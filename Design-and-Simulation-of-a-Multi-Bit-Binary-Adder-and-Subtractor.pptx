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Bold"/>
      <p:regular r:id="rId201315"/>
    </p:embeddedFont>
    <p:embeddedFont>
      <p:font typeface="Outfi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Design and Simulation of a Multi-Bit Binary Adder and Subtractor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structured introduction to binary arithmetic circuits for students of digital logic design.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9045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Why Binary Addition Matters</a:t>
            </a:r>
            <a:endParaRPr lang="en-US" sz="3700" dirty="0"/>
          </a:p>
        </p:txBody>
      </p:sp>
      <p:sp>
        <p:nvSpPr>
          <p:cNvPr id="5" name="Shape 1"/>
          <p:cNvSpPr/>
          <p:nvPr/>
        </p:nvSpPr>
        <p:spPr>
          <a:xfrm>
            <a:off x="661475" y="1778695"/>
            <a:ext cx="3053877" cy="2594074"/>
          </a:xfrm>
          <a:prstGeom prst="roundRect">
            <a:avLst>
              <a:gd name="adj" fmla="val 1093"/>
            </a:avLst>
          </a:prstGeom>
          <a:solidFill>
            <a:srgbClr val="3B3C3E"/>
          </a:solidFill>
          <a:ln/>
        </p:spPr>
      </p:sp>
      <p:sp>
        <p:nvSpPr>
          <p:cNvPr id="6" name="Text 2"/>
          <p:cNvSpPr/>
          <p:nvPr/>
        </p:nvSpPr>
        <p:spPr>
          <a:xfrm>
            <a:off x="850482" y="1967706"/>
            <a:ext cx="2675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Foundation of Arithmetic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50482" y="2671663"/>
            <a:ext cx="2675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Every digital system — from microcontrollers to supercomputers — performs all arithmetic using binary addition at its core.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3904359" y="1778695"/>
            <a:ext cx="3053976" cy="2594074"/>
          </a:xfrm>
          <a:prstGeom prst="roundRect">
            <a:avLst>
              <a:gd name="adj" fmla="val 1093"/>
            </a:avLst>
          </a:prstGeom>
          <a:solidFill>
            <a:srgbClr val="3B3C3E"/>
          </a:solidFill>
          <a:ln/>
        </p:spPr>
      </p:sp>
      <p:sp>
        <p:nvSpPr>
          <p:cNvPr id="9" name="Text 5"/>
          <p:cNvSpPr/>
          <p:nvPr/>
        </p:nvSpPr>
        <p:spPr>
          <a:xfrm>
            <a:off x="4093366" y="1967706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Inside Every Calculation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093366" y="2376388"/>
            <a:ext cx="26759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Multiplication, division, and floating-point operations all reduce to sequences of additions in hardware.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61475" y="4561780"/>
            <a:ext cx="6296860" cy="1391543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</p:sp>
      <p:sp>
        <p:nvSpPr>
          <p:cNvPr id="12" name="Text 8"/>
          <p:cNvSpPr/>
          <p:nvPr/>
        </p:nvSpPr>
        <p:spPr>
          <a:xfrm>
            <a:off x="850482" y="4750792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Gateway to Circuit Design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50482" y="5159474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Understanding adders unlocks the fundamentals of combinational logic, timing, and digital system architecture.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43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Logic Gates: Building Blocks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1951137"/>
            <a:ext cx="3357082" cy="1820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165548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AND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649835"/>
            <a:ext cx="28266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Output is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only when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both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inputs are 1. Used to compute the carry bit in addition.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1951137"/>
            <a:ext cx="3357181" cy="1820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95294" y="2165548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OR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495294" y="2649835"/>
            <a:ext cx="28267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Output is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when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at least one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input is 1. Combines partial carry signals.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3201" y="3960515"/>
            <a:ext cx="3357082" cy="18203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49205" y="4174927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XOR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4949205" y="4659213"/>
            <a:ext cx="28266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Output is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when inputs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differ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The key gate for computing the sum bit.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9290" y="3960515"/>
            <a:ext cx="3357181" cy="18203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95294" y="4174927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NOT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8495294" y="4659213"/>
            <a:ext cx="28267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Inverts the input: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0→1, 1→0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Essential for 2's complement subtraction.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591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Half Adder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2230140"/>
            <a:ext cx="69183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It Does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652911"/>
            <a:ext cx="691835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half adder is the simplest arithmetic circuit — it adds two single bits,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B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producing two outputs.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350022"/>
            <a:ext cx="6918350" cy="887413"/>
          </a:xfrm>
          <a:prstGeom prst="roundRect">
            <a:avLst>
              <a:gd name="adj" fmla="val 2895"/>
            </a:avLst>
          </a:prstGeom>
          <a:solidFill>
            <a:srgbClr val="4B3F0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722" y="3582194"/>
            <a:ext cx="214109" cy="1712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8078" y="3532485"/>
            <a:ext cx="619050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Limitation: Cannot accept a carry-in from a previous bit stage — making it unsuitable alone for multi-bit addition.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074" y="1477268"/>
            <a:ext cx="3532397" cy="353248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1475" y="5359003"/>
            <a:ext cx="5356786" cy="964406"/>
          </a:xfrm>
          <a:prstGeom prst="roundRect">
            <a:avLst>
              <a:gd name="adj" fmla="val 2664"/>
            </a:avLst>
          </a:prstGeom>
          <a:solidFill>
            <a:srgbClr val="3B3C3E"/>
          </a:solidFill>
          <a:ln/>
        </p:spPr>
      </p:sp>
      <p:sp>
        <p:nvSpPr>
          <p:cNvPr id="10" name="Text 6"/>
          <p:cNvSpPr/>
          <p:nvPr/>
        </p:nvSpPr>
        <p:spPr>
          <a:xfrm>
            <a:off x="832722" y="5530255"/>
            <a:ext cx="501429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Sum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32722" y="5890915"/>
            <a:ext cx="50142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XOR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3435" y="5359003"/>
            <a:ext cx="5356786" cy="964406"/>
          </a:xfrm>
          <a:prstGeom prst="roundRect">
            <a:avLst>
              <a:gd name="adj" fmla="val 2664"/>
            </a:avLst>
          </a:prstGeom>
          <a:solidFill>
            <a:srgbClr val="3B3C3E"/>
          </a:solidFill>
          <a:ln/>
        </p:spPr>
      </p:sp>
      <p:sp>
        <p:nvSpPr>
          <p:cNvPr id="13" name="Text 9"/>
          <p:cNvSpPr/>
          <p:nvPr/>
        </p:nvSpPr>
        <p:spPr>
          <a:xfrm>
            <a:off x="6344682" y="5530255"/>
            <a:ext cx="501429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Carry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344682" y="5890915"/>
            <a:ext cx="50142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AND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Full Adder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699" y="909538"/>
            <a:ext cx="7330296" cy="5509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4449" y="3549692"/>
            <a:ext cx="1336850" cy="61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Three‑Input Full Adder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424289" y="5024305"/>
            <a:ext cx="1988802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424289" y="5416947"/>
            <a:ext cx="1988802" cy="36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Sum = A XOR B XOR Cin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61618" y="5024305"/>
            <a:ext cx="1988802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Carry‑out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761618" y="5416947"/>
            <a:ext cx="1988802" cy="36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Cout = (A AND B) OR (Cin AND (A XOR B))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65782" y="1502080"/>
            <a:ext cx="2043145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Inputs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065782" y="1894722"/>
            <a:ext cx="2043145" cy="183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A, B, Cin signals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647253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full adder extends the half adder by accepting 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Carry-in (Cin)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from a previous stage. This makes it the essential building block for cascading into multi-bit adders — each stage passes its carry-out to the next.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160" y="1086644"/>
            <a:ext cx="3513446" cy="46847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679152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Multi-Bit Adder Architecture</a:t>
            </a:r>
            <a:endParaRPr lang="en-US" sz="35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99791"/>
            <a:ext cx="900784" cy="130760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33903" y="1679873"/>
            <a:ext cx="52244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LSB Stage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1733903" y="2064345"/>
            <a:ext cx="52244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 Adder #1 receives Cin = 0 and processes the least significant bits.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807395"/>
            <a:ext cx="900784" cy="130760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733903" y="2987477"/>
            <a:ext cx="52244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Carry Ripple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1733903" y="3371949"/>
            <a:ext cx="52244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adder's Carry-out feeds the next adder's Carry-in — the carry "ripples" upward.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114998"/>
            <a:ext cx="900784" cy="130760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33903" y="4295080"/>
            <a:ext cx="52244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MSB Stage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1733903" y="4679553"/>
            <a:ext cx="52244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final full adder produces the most significant sum bit and the final carry-out.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61475" y="5615781"/>
            <a:ext cx="629686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4-bit ripple carry adder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chains 4 full adders in series. Propagation delay grows with bit width — each stage must wait for the previous carry to settle.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Binary Subtraction: 2's Complement Method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773660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3206452"/>
            <a:ext cx="6915870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Rather than building a separate subtractor circuit, we reuse the same adder by converting the subtrahend using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2's complement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8737" y="1485900"/>
            <a:ext cx="3527734" cy="35278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5375077"/>
            <a:ext cx="392003" cy="392013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7" name="Text 4"/>
          <p:cNvSpPr/>
          <p:nvPr/>
        </p:nvSpPr>
        <p:spPr>
          <a:xfrm>
            <a:off x="726759" y="5407670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214109" y="5434905"/>
            <a:ext cx="293640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Invert all bits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14109" y="5803404"/>
            <a:ext cx="293640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Apply NOT to every bit of the subtrahend (1's complement).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51229" y="5375077"/>
            <a:ext cx="392003" cy="392013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4416513" y="5407670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4903863" y="5434905"/>
            <a:ext cx="293650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 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903863" y="5803404"/>
            <a:ext cx="2936504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Increment the result by 1 to complete the 2's complement.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41082" y="5375077"/>
            <a:ext cx="392003" cy="392013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5" name="Text 12"/>
          <p:cNvSpPr/>
          <p:nvPr/>
        </p:nvSpPr>
        <p:spPr>
          <a:xfrm>
            <a:off x="8106366" y="5407670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8593716" y="5434905"/>
            <a:ext cx="293650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 to minuend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93716" y="5803404"/>
            <a:ext cx="2936504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Feed both values into the adder. Discard any final carry-out.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1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Simulation &amp; Testing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59226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to Verify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07654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Simulation is the critical step between design and hardware. A thorough test plan covers: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2851448"/>
            <a:ext cx="6903269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Edge cases: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0+0, all-ones inputs, and overflow scenarios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Carry propagation: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Confirm carry ripples correctly through every stage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Waveform analysis: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Inspect timing diagrams for signal transitions and propagation delay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Subtraction validation: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Verify 2's complement results match expected differences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5076825"/>
            <a:ext cx="6903269" cy="1039416"/>
          </a:xfrm>
          <a:prstGeom prst="roundRect">
            <a:avLst>
              <a:gd name="adj" fmla="val 2728"/>
            </a:avLst>
          </a:prstGeom>
          <a:solidFill>
            <a:srgbClr val="183A1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5357217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5294114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Passing simulation confirms the design is logically correct before committing to physical hardware.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08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Takeaways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5954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559546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Adders Are the Foundation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96822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Half and full adders are the fundamental arithmetic circuits from which all digital computation is built.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55954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559546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Cascade for Scale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2968228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Multi-bit adders chain full adders in series, with carry rippling from the least to most significant bit.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51089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3951089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2's Complement Unifies Arithmetic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359771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Subtraction requires no separate circuit — 2's complement lets the same adder handle both operations.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3951089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3951089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Simulate Before You Build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359771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Waveform simulation validates logic correctness and timing behavior before any hardware is fabricated.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2026-09-22T05:01:45Z</dcterms:created>
  <dcterms:modified xsi:type="dcterms:W3CDTF">2026-09-22T05:01:45Z</dcterms:modified>
</cp:coreProperties>
</file>